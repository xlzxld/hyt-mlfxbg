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436" r:id="rId3"/>
    <p:sldId id="305" r:id="rId5"/>
    <p:sldId id="583" r:id="rId6"/>
    <p:sldId id="334" r:id="rId7"/>
    <p:sldId id="314" r:id="rId8"/>
    <p:sldId id="582" r:id="rId9"/>
    <p:sldId id="337" r:id="rId10"/>
    <p:sldId id="315" r:id="rId11"/>
    <p:sldId id="298" r:id="rId12"/>
    <p:sldId id="403" r:id="rId13"/>
    <p:sldId id="322" r:id="rId14"/>
    <p:sldId id="446" r:id="rId15"/>
    <p:sldId id="559" r:id="rId16"/>
    <p:sldId id="579" r:id="rId17"/>
    <p:sldId id="558" r:id="rId18"/>
    <p:sldId id="441" r:id="rId19"/>
    <p:sldId id="524" r:id="rId20"/>
  </p:sldIdLst>
  <p:sldSz cx="9144000" cy="6858000" type="screen4x3"/>
  <p:notesSz cx="10234930" cy="7099300"/>
  <p:custDataLst>
    <p:tags r:id="rId25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sng" kern="1200" baseline="0">
        <a:solidFill>
          <a:schemeClr val="tx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16AB2"/>
    <a:srgbClr val="006BB6"/>
    <a:srgbClr val="1F497D"/>
    <a:srgbClr val="E9EDF4"/>
    <a:srgbClr val="0000FF"/>
    <a:srgbClr val="FF3300"/>
    <a:srgbClr val="7790B1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34"/>
    <p:restoredTop sz="96469"/>
  </p:normalViewPr>
  <p:slideViewPr>
    <p:cSldViewPr showGuides="1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22"/>
      </p:guideLst>
    </p:cSldViewPr>
  </p:slideViewPr>
  <p:outlineViewPr>
    <p:cViewPr>
      <p:scale>
        <a:sx n="25" d="100"/>
        <a:sy n="25" d="100"/>
      </p:scale>
      <p:origin x="0" y="-126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3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t" anchorCtr="0" compatLnSpc="1"/>
          <a:lstStyle>
            <a:lvl1pPr algn="l" defTabSz="967105" eaLnBrk="1" hangingPunct="1">
              <a:defRPr sz="1300" b="0" u="none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38" y="0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t" anchorCtr="0" compatLnSpc="1"/>
          <a:lstStyle>
            <a:lvl1pPr algn="r" defTabSz="967105" eaLnBrk="1" hangingPunct="1">
              <a:defRPr sz="1300" b="0" u="none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5288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b" anchorCtr="0" compatLnSpc="1"/>
          <a:lstStyle>
            <a:lvl1pPr algn="l" defTabSz="967105" eaLnBrk="1" hangingPunct="1">
              <a:defRPr sz="1300" b="0" u="none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38" y="6745288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b" anchorCtr="0" compatLnSpc="1"/>
          <a:lstStyle>
            <a:lvl1pPr algn="r" defTabSz="967105">
              <a:defRPr sz="1300" u="none" noProof="1" dirty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E30BF9-01D1-4E97-8537-3AC23DD293E4}" type="slidenum">
              <a:rPr kumimoji="0" lang="zh-CN" altLang="en-US" sz="13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t" anchorCtr="0" compatLnSpc="1"/>
          <a:lstStyle>
            <a:lvl1pPr algn="l" defTabSz="967105" eaLnBrk="1" hangingPunct="1">
              <a:defRPr sz="1300" b="0" u="none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9138" y="0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t" anchorCtr="0" compatLnSpc="1"/>
          <a:lstStyle>
            <a:lvl1pPr algn="r" defTabSz="967105" eaLnBrk="1" hangingPunct="1">
              <a:defRPr sz="1300" b="0" u="none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3663" y="3371850"/>
            <a:ext cx="7507288" cy="3194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5288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b" anchorCtr="0" compatLnSpc="1"/>
          <a:lstStyle>
            <a:lvl1pPr algn="l" defTabSz="967105" eaLnBrk="1" hangingPunct="1">
              <a:defRPr sz="1300" b="0" u="none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9138" y="6745288"/>
            <a:ext cx="4435475" cy="354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33" tIns="48317" rIns="96633" bIns="48317" numCol="1" anchor="b" anchorCtr="0" compatLnSpc="1"/>
          <a:lstStyle>
            <a:lvl1pPr algn="r" defTabSz="967105">
              <a:defRPr sz="1300" u="none" noProof="1" dirty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AAB80-F103-4E0E-96DC-A9FFC5AB6EFF}" type="slidenum">
              <a:rPr kumimoji="0" lang="zh-CN" altLang="en-US" sz="13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xfrm>
            <a:off x="679450" y="4714875"/>
            <a:ext cx="5438775" cy="4467225"/>
          </a:xfrm>
        </p:spPr>
        <p:txBody>
          <a:bodyPr wrap="square" lIns="96633" tIns="48317" rIns="96633" bIns="48317" anchor="t" anchorCtr="0"/>
          <a:p>
            <a:pPr lvl="0"/>
            <a:endParaRPr lang="zh-CN" altLang="en-US" dirty="0"/>
          </a:p>
        </p:txBody>
      </p:sp>
      <p:sp>
        <p:nvSpPr>
          <p:cNvPr id="5123" name="日期占位符 3"/>
          <p:cNvSpPr txBox="1">
            <a:spLocks noGrp="1"/>
          </p:cNvSpPr>
          <p:nvPr>
            <p:ph type="dt" sz="half"/>
          </p:nvPr>
        </p:nvSpPr>
        <p:spPr>
          <a:xfrm>
            <a:off x="5799138" y="0"/>
            <a:ext cx="4435475" cy="3540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633" tIns="48317" rIns="96633" bIns="48317" anchor="t" anchorCtr="0"/>
          <a:p>
            <a:pPr lvl="0" algn="r" defTabSz="967105"/>
            <a:fld id="{BB962C8B-B14F-4D97-AF65-F5344CB8AC3E}" type="datetime1">
              <a:rPr lang="zh-CN" altLang="en-US" sz="1300" u="none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3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5799138" y="6745288"/>
            <a:ext cx="4435475" cy="3540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633" tIns="48317" rIns="96633" bIns="48317" anchor="b" anchorCtr="0"/>
          <a:p>
            <a:pPr lvl="0" algn="r" defTabSz="967105"/>
            <a:fld id="{9A0DB2DC-4C9A-4742-B13C-FB6460FD3503}" type="slidenum">
              <a:rPr lang="en-US" altLang="en-US" sz="1300" u="none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en-US" sz="13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文本占位符 1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8914" name="备注占位符 2"/>
          <p:cNvSpPr>
            <a:spLocks noGrp="1"/>
          </p:cNvSpPr>
          <p:nvPr>
            <p:ph type="body"/>
          </p:nvPr>
        </p:nvSpPr>
        <p:spPr>
          <a:xfrm>
            <a:off x="1363663" y="3371850"/>
            <a:ext cx="7507287" cy="3194050"/>
          </a:xfrm>
        </p:spPr>
        <p:txBody>
          <a:bodyPr wrap="square" lIns="96633" tIns="48317" rIns="96633" bIns="48317" anchor="t" anchorCtr="0"/>
          <a:p>
            <a:pPr lvl="0"/>
            <a:endParaRPr lang="zh-CN" altLang="en-US" dirty="0"/>
          </a:p>
        </p:txBody>
      </p:sp>
      <p:sp>
        <p:nvSpPr>
          <p:cNvPr id="389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799138" y="6745288"/>
            <a:ext cx="4435475" cy="3540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633" tIns="48317" rIns="96633" bIns="48317" anchor="b" anchorCtr="0"/>
          <a:p>
            <a:pPr lvl="0" algn="r" defTabSz="967105"/>
            <a:fld id="{9A0DB2DC-4C9A-4742-B13C-FB6460FD3503}" type="slidenum">
              <a:rPr lang="en-US" altLang="en-US" sz="1300" u="none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en-US" sz="13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6" name="日期占位符 4"/>
          <p:cNvSpPr txBox="1">
            <a:spLocks noGrp="1"/>
          </p:cNvSpPr>
          <p:nvPr>
            <p:ph type="dt" sz="half"/>
          </p:nvPr>
        </p:nvSpPr>
        <p:spPr>
          <a:xfrm>
            <a:off x="5799138" y="0"/>
            <a:ext cx="4435475" cy="3540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633" tIns="48317" rIns="96633" bIns="48317" anchor="t" anchorCtr="0"/>
          <a:p>
            <a:pPr lvl="0" algn="r" defTabSz="967105"/>
            <a:fld id="{BB962C8B-B14F-4D97-AF65-F5344CB8AC3E}" type="datetime1">
              <a:rPr lang="zh-CN" altLang="en-US" sz="1300" u="none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3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922" y="275530"/>
            <a:ext cx="8229600" cy="114244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922" y="1599418"/>
            <a:ext cx="8229600" cy="452607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panose="020F050202020403020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FB5A0-9BDD-467A-B307-AB2E233BA846}" type="datetimeFigureOut">
              <a:rPr kumimoji="0" lang="zh-CN" altLang="en-US" sz="12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1118AA-59B1-4C15-AE78-E04E873A300A}" type="slidenum">
              <a:rPr kumimoji="0" lang="zh-CN" altLang="en-US" sz="1200" b="0" i="0" u="sng" strike="noStrike" kern="1200" cap="none" spc="0" normalizeH="0" baseline="0" noProof="1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5"/>
          <p:cNvSpPr>
            <a:spLocks noGrp="1"/>
          </p:cNvSpPr>
          <p:nvPr/>
        </p:nvSpPr>
        <p:spPr>
          <a:xfrm>
            <a:off x="7007225" y="6477000"/>
            <a:ext cx="21336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7003D-2429-4846-B9CD-C48A4488E8AF}" type="slidenum">
              <a:rPr kumimoji="0" lang="zh-CN" altLang="en-US" sz="1200" b="0" i="0" u="sng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sng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GIF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Group 32"/>
          <p:cNvGraphicFramePr>
            <a:graphicFrameLocks noGrp="1"/>
          </p:cNvGraphicFramePr>
          <p:nvPr/>
        </p:nvGraphicFramePr>
        <p:xfrm>
          <a:off x="1187450" y="4581525"/>
          <a:ext cx="7663180" cy="1712913"/>
        </p:xfrm>
        <a:graphic>
          <a:graphicData uri="http://schemas.openxmlformats.org/drawingml/2006/table">
            <a:tbl>
              <a:tblPr/>
              <a:tblGrid>
                <a:gridCol w="1304290"/>
                <a:gridCol w="2353310"/>
                <a:gridCol w="1447800"/>
                <a:gridCol w="2557780"/>
              </a:tblGrid>
              <a:tr h="4933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零件名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endParaRPr lang="zh-CN" altLang="en-US" sz="1200" dirty="0" smtClean="0">
                        <a:ln>
                          <a:noFill/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3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模号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dirty="0" smtClean="0">
                        <a:ln>
                          <a:noFill/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CAD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模型版本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V1.0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报告日期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2026-09-02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Moldflow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模具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零件供应商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分析工程师 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xue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标题 3"/>
          <p:cNvSpPr txBox="1"/>
          <p:nvPr/>
        </p:nvSpPr>
        <p:spPr>
          <a:xfrm>
            <a:off x="4067175" y="115888"/>
            <a:ext cx="1760538" cy="422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模流分析报告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320" y="476885"/>
            <a:ext cx="5415280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" name="Group 28"/>
          <p:cNvGraphicFramePr>
            <a:graphicFrameLocks noGrp="1"/>
          </p:cNvGraphicFramePr>
          <p:nvPr/>
        </p:nvGraphicFramePr>
        <p:xfrm>
          <a:off x="0" y="6299200"/>
          <a:ext cx="8467725" cy="558800"/>
        </p:xfrm>
        <a:graphic>
          <a:graphicData uri="http://schemas.openxmlformats.org/drawingml/2006/table">
            <a:tbl>
              <a:tblPr/>
              <a:tblGrid>
                <a:gridCol w="1437748"/>
                <a:gridCol w="7029977"/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结果说明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7" marR="91447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此产品采用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2D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网格分析，最大纵横比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&lt;20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，匹配率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&gt;85%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，网格质量满足分析要求。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7" marR="91447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177" name="Rectangle 2"/>
          <p:cNvSpPr/>
          <p:nvPr/>
        </p:nvSpPr>
        <p:spPr>
          <a:xfrm>
            <a:off x="323850" y="838200"/>
            <a:ext cx="3600450" cy="37449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sym typeface="Calibri" panose="020F0502020204030204" charset="0"/>
              </a:rPr>
              <a:t>产品网格模型截图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7178" name="Rectangle 8"/>
          <p:cNvSpPr/>
          <p:nvPr/>
        </p:nvSpPr>
        <p:spPr>
          <a:xfrm>
            <a:off x="4867275" y="838200"/>
            <a:ext cx="3600450" cy="37449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sym typeface="Calibri" panose="020F0502020204030204" charset="0"/>
              </a:rPr>
              <a:t>产品网格质量统计截图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7179" name="标题 1"/>
          <p:cNvSpPr>
            <a:spLocks noGrp="1"/>
          </p:cNvSpPr>
          <p:nvPr>
            <p:ph type="title"/>
          </p:nvPr>
        </p:nvSpPr>
        <p:spPr>
          <a:xfrm>
            <a:off x="6875463" y="123825"/>
            <a:ext cx="2268537" cy="476250"/>
          </a:xfrm>
        </p:spPr>
        <p:txBody>
          <a:bodyPr vert="horz" wrap="square" lIns="91440" tIns="45720" rIns="91440" bIns="45720" anchor="ctr" anchorCtr="0"/>
          <a:p>
            <a:pPr algn="r"/>
            <a:r>
              <a:rPr lang="zh-CN" altLang="en-US" sz="2000" b="1" u="sng" dirty="0">
                <a:ea typeface="等线 Light" panose="02010600030101010101" pitchFamily="2" charset="-122"/>
              </a:rPr>
              <a:t>产品网格质量统计</a:t>
            </a:r>
            <a:endParaRPr lang="zh-CN" altLang="en-US" sz="2000" b="1" u="sng" dirty="0">
              <a:ea typeface="等线 Light" panose="02010600030101010101" pitchFamily="2" charset="-122"/>
            </a:endParaRPr>
          </a:p>
        </p:txBody>
      </p:sp>
      <p:sp>
        <p:nvSpPr>
          <p:cNvPr id="7180" name="文本框 2"/>
          <p:cNvSpPr txBox="1"/>
          <p:nvPr/>
        </p:nvSpPr>
        <p:spPr>
          <a:xfrm>
            <a:off x="5364163" y="1270000"/>
            <a:ext cx="2684462" cy="46942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 sz="800">
                <a:latin typeface="Arial" panose="020B0604020202020204" pitchFamily="34" charset="0"/>
              </a:rPr>
              <a:t>三角形</a:t>
            </a:r>
            <a:r>
              <a:rPr lang="en-US" altLang="zh-CN" sz="800">
                <a:latin typeface="Arial" panose="020B0604020202020204" pitchFamily="34" charset="0"/>
              </a:rPr>
              <a:t> 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----------------------------------------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实体计数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三角形</a:t>
            </a:r>
            <a:r>
              <a:rPr lang="en-US" altLang="zh-CN" sz="800">
                <a:latin typeface="Arial" panose="020B0604020202020204" pitchFamily="34" charset="0"/>
              </a:rPr>
              <a:t>               60248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已连接的节点</a:t>
            </a:r>
            <a:r>
              <a:rPr lang="en-US" altLang="zh-CN" sz="800">
                <a:latin typeface="Arial" panose="020B0604020202020204" pitchFamily="34" charset="0"/>
              </a:rPr>
              <a:t>         29924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连通区域</a:t>
            </a:r>
            <a:r>
              <a:rPr lang="en-US" altLang="zh-CN" sz="800">
                <a:latin typeface="Arial" panose="020B0604020202020204" pitchFamily="34" charset="0"/>
              </a:rPr>
              <a:t>             1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不可见三角形</a:t>
            </a:r>
            <a:r>
              <a:rPr lang="en-US" altLang="zh-CN" sz="800">
                <a:latin typeface="Arial" panose="020B0604020202020204" pitchFamily="34" charset="0"/>
              </a:rPr>
              <a:t>            0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面积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(</a:t>
            </a:r>
            <a:r>
              <a:rPr lang="zh-CN" altLang="en-US" sz="800">
                <a:latin typeface="Arial" panose="020B0604020202020204" pitchFamily="34" charset="0"/>
              </a:rPr>
              <a:t>不包括模具镶块和冷却管道</a:t>
            </a:r>
            <a:r>
              <a:rPr lang="en-US" altLang="zh-CN" sz="800">
                <a:latin typeface="Arial" panose="020B0604020202020204" pitchFamily="34" charset="0"/>
              </a:rPr>
              <a:t>)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表面面积</a:t>
            </a:r>
            <a:r>
              <a:rPr lang="en-US" altLang="zh-CN" sz="800">
                <a:latin typeface="Arial" panose="020B0604020202020204" pitchFamily="34" charset="0"/>
              </a:rPr>
              <a:t>: 	3723.29 cm^2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按单元类型统计的体积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三角形：</a:t>
            </a:r>
            <a:r>
              <a:rPr lang="en-US" altLang="zh-CN" sz="800">
                <a:latin typeface="Arial" panose="020B0604020202020204" pitchFamily="34" charset="0"/>
              </a:rPr>
              <a:t> 	478.275 cm^3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纵横比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最大</a:t>
            </a:r>
            <a:r>
              <a:rPr lang="en-US" altLang="zh-CN" sz="800">
                <a:latin typeface="Arial" panose="020B0604020202020204" pitchFamily="34" charset="0"/>
              </a:rPr>
              <a:t>       </a:t>
            </a:r>
            <a:r>
              <a:rPr lang="zh-CN" altLang="en-US" sz="800">
                <a:latin typeface="Arial" panose="020B0604020202020204" pitchFamily="34" charset="0"/>
              </a:rPr>
              <a:t>平均</a:t>
            </a:r>
            <a:r>
              <a:rPr lang="en-US" altLang="zh-CN" sz="800">
                <a:latin typeface="Arial" panose="020B0604020202020204" pitchFamily="34" charset="0"/>
              </a:rPr>
              <a:t>        </a:t>
            </a:r>
            <a:r>
              <a:rPr lang="zh-CN" altLang="en-US" sz="800">
                <a:latin typeface="Arial" panose="020B0604020202020204" pitchFamily="34" charset="0"/>
              </a:rPr>
              <a:t>最小</a:t>
            </a:r>
            <a:endParaRPr lang="zh-CN" altLang="en-US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 19.10       1.87       1.16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边细节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自由边</a:t>
            </a:r>
            <a:r>
              <a:rPr lang="en-US" altLang="zh-CN" sz="800">
                <a:latin typeface="Arial" panose="020B0604020202020204" pitchFamily="34" charset="0"/>
              </a:rPr>
              <a:t>			 0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共用边</a:t>
            </a:r>
            <a:r>
              <a:rPr lang="en-US" altLang="zh-CN" sz="800">
                <a:latin typeface="Arial" panose="020B0604020202020204" pitchFamily="34" charset="0"/>
              </a:rPr>
              <a:t>        		 90372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多重边</a:t>
            </a:r>
            <a:r>
              <a:rPr lang="en-US" altLang="zh-CN" sz="800">
                <a:latin typeface="Arial" panose="020B0604020202020204" pitchFamily="34" charset="0"/>
              </a:rPr>
              <a:t>            		 0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取向细节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配向不正确的单元</a:t>
            </a:r>
            <a:r>
              <a:rPr lang="en-US" altLang="zh-CN" sz="800">
                <a:latin typeface="Arial" panose="020B0604020202020204" pitchFamily="34" charset="0"/>
              </a:rPr>
              <a:t>     	 0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交叉点细节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相交单元</a:t>
            </a:r>
            <a:r>
              <a:rPr lang="en-US" altLang="zh-CN" sz="800">
                <a:latin typeface="Arial" panose="020B0604020202020204" pitchFamily="34" charset="0"/>
              </a:rPr>
              <a:t>             	 0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完全重叠单元</a:t>
            </a:r>
            <a:r>
              <a:rPr lang="en-US" altLang="zh-CN" sz="800">
                <a:latin typeface="Arial" panose="020B0604020202020204" pitchFamily="34" charset="0"/>
              </a:rPr>
              <a:t>              	 0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匹配百分比</a:t>
            </a:r>
            <a:r>
              <a:rPr lang="en-US" altLang="zh-CN" sz="800">
                <a:latin typeface="Arial" panose="020B0604020202020204" pitchFamily="34" charset="0"/>
              </a:rPr>
              <a:t>: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匹配百分比</a:t>
            </a:r>
            <a:r>
              <a:rPr lang="en-US" altLang="zh-CN" sz="800">
                <a:latin typeface="Arial" panose="020B0604020202020204" pitchFamily="34" charset="0"/>
              </a:rPr>
              <a:t>      		 94.7%</a:t>
            </a:r>
            <a:endParaRPr lang="en-US" altLang="zh-CN" sz="800">
              <a:latin typeface="Arial" panose="020B0604020202020204" pitchFamily="34" charset="0"/>
            </a:endParaRPr>
          </a:p>
          <a:p>
            <a:r>
              <a:rPr lang="en-US" altLang="zh-CN" sz="800">
                <a:latin typeface="Arial" panose="020B0604020202020204" pitchFamily="34" charset="0"/>
              </a:rPr>
              <a:t>    </a:t>
            </a:r>
            <a:r>
              <a:rPr lang="zh-CN" altLang="en-US" sz="800">
                <a:latin typeface="Arial" panose="020B0604020202020204" pitchFamily="34" charset="0"/>
              </a:rPr>
              <a:t>相互百分比</a:t>
            </a:r>
            <a:r>
              <a:rPr lang="en-US" altLang="zh-CN" sz="800">
                <a:latin typeface="Arial" panose="020B0604020202020204" pitchFamily="34" charset="0"/>
              </a:rPr>
              <a:t>           	 96.4%</a:t>
            </a:r>
            <a:endParaRPr lang="en-US" altLang="zh-CN" sz="800">
              <a:latin typeface="Arial" panose="020B0604020202020204" pitchFamily="34" charset="0"/>
            </a:endParaRPr>
          </a:p>
          <a:p>
            <a:endParaRPr lang="en-US" altLang="zh-CN" sz="800">
              <a:latin typeface="Arial" panose="020B0604020202020204" pitchFamily="34" charset="0"/>
            </a:endParaRPr>
          </a:p>
          <a:p>
            <a:r>
              <a:rPr lang="zh-CN" altLang="en-US" sz="800">
                <a:latin typeface="Arial" panose="020B0604020202020204" pitchFamily="34" charset="0"/>
              </a:rPr>
              <a:t>适合</a:t>
            </a:r>
            <a:r>
              <a:rPr lang="en-US" altLang="zh-CN" sz="800">
                <a:latin typeface="Arial" panose="020B0604020202020204" pitchFamily="34" charset="0"/>
              </a:rPr>
              <a:t> Dual Domain </a:t>
            </a:r>
            <a:r>
              <a:rPr lang="zh-CN" altLang="en-US" sz="800">
                <a:latin typeface="Arial" panose="020B0604020202020204" pitchFamily="34" charset="0"/>
              </a:rPr>
              <a:t>分析。</a:t>
            </a:r>
            <a:endParaRPr lang="zh-CN" altLang="en-US" sz="80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5265"/>
            <a:ext cx="5299710" cy="4002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"/>
          <p:cNvSpPr>
            <a:spLocks noGrp="1"/>
          </p:cNvSpPr>
          <p:nvPr>
            <p:ph type="title"/>
          </p:nvPr>
        </p:nvSpPr>
        <p:spPr>
          <a:xfrm>
            <a:off x="7908925" y="115888"/>
            <a:ext cx="1235075" cy="401637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b="1" u="sng" dirty="0">
                <a:ea typeface="等线 Light" panose="02010600030101010101" pitchFamily="2" charset="-122"/>
              </a:rPr>
              <a:t>材料信息</a:t>
            </a:r>
            <a:endParaRPr lang="zh-CN" altLang="en-US" sz="2000" b="1" u="sng" dirty="0">
              <a:ea typeface="等线 Light" panose="02010600030101010101" pitchFamily="2" charset="-122"/>
            </a:endParaRPr>
          </a:p>
        </p:txBody>
      </p:sp>
      <p:sp>
        <p:nvSpPr>
          <p:cNvPr id="8194" name="Text Box 3"/>
          <p:cNvSpPr txBox="1"/>
          <p:nvPr/>
        </p:nvSpPr>
        <p:spPr>
          <a:xfrm>
            <a:off x="1792288" y="765175"/>
            <a:ext cx="1262062" cy="307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sym typeface="Calibri" panose="020F0502020204030204" charset="0"/>
              </a:rPr>
              <a:t>材料基本信息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sym typeface="Calibri" panose="020F0502020204030204" charset="0"/>
            </a:endParaRPr>
          </a:p>
        </p:txBody>
      </p:sp>
      <p:sp>
        <p:nvSpPr>
          <p:cNvPr id="8195" name="Text Box 4"/>
          <p:cNvSpPr txBox="1"/>
          <p:nvPr/>
        </p:nvSpPr>
        <p:spPr>
          <a:xfrm>
            <a:off x="6218238" y="765175"/>
            <a:ext cx="901700" cy="307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sym typeface="Calibri" panose="020F0502020204030204" charset="0"/>
              </a:rPr>
              <a:t>推荐工艺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sym typeface="Calibri" panose="020F0502020204030204" charset="0"/>
            </a:endParaRPr>
          </a:p>
        </p:txBody>
      </p:sp>
      <p:sp>
        <p:nvSpPr>
          <p:cNvPr id="8196" name="Text Box 5"/>
          <p:cNvSpPr txBox="1"/>
          <p:nvPr/>
        </p:nvSpPr>
        <p:spPr>
          <a:xfrm>
            <a:off x="1928813" y="3856038"/>
            <a:ext cx="903287" cy="307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sym typeface="Calibri" panose="020F0502020204030204" charset="0"/>
              </a:rPr>
              <a:t>粘度曲线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sym typeface="Calibri" panose="020F0502020204030204" charset="0"/>
            </a:endParaRPr>
          </a:p>
        </p:txBody>
      </p:sp>
      <p:sp>
        <p:nvSpPr>
          <p:cNvPr id="8197" name="Text Box 7"/>
          <p:cNvSpPr txBox="1"/>
          <p:nvPr/>
        </p:nvSpPr>
        <p:spPr>
          <a:xfrm>
            <a:off x="5895975" y="3789363"/>
            <a:ext cx="1930400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sym typeface="Calibri" panose="020F0502020204030204" charset="0"/>
              </a:rPr>
              <a:t>PVT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sym typeface="Calibri" panose="020F0502020204030204" charset="0"/>
              </a:rPr>
              <a:t>曲线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sym typeface="Calibri" panose="020F0502020204030204" charset="0"/>
            </a:endParaRPr>
          </a:p>
        </p:txBody>
      </p:sp>
      <p:sp>
        <p:nvSpPr>
          <p:cNvPr id="8198" name="文本框 5"/>
          <p:cNvSpPr txBox="1"/>
          <p:nvPr/>
        </p:nvSpPr>
        <p:spPr>
          <a:xfrm>
            <a:off x="9790113" y="1649413"/>
            <a:ext cx="311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1051560"/>
            <a:ext cx="4502150" cy="27920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420" y="1015365"/>
            <a:ext cx="3464560" cy="28282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" y="4164330"/>
            <a:ext cx="4519930" cy="25577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94480"/>
            <a:ext cx="4528820" cy="247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标题 1"/>
          <p:cNvSpPr>
            <a:spLocks noGrp="1"/>
          </p:cNvSpPr>
          <p:nvPr>
            <p:ph type="title"/>
          </p:nvPr>
        </p:nvSpPr>
        <p:spPr>
          <a:xfrm>
            <a:off x="5076825" y="44450"/>
            <a:ext cx="1738313" cy="48895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b="1" u="sng" dirty="0">
                <a:ea typeface="等线 Light" panose="02010600030101010101" pitchFamily="2" charset="-122"/>
              </a:rPr>
              <a:t>动态填充动画</a:t>
            </a:r>
            <a:endParaRPr lang="zh-CN" altLang="en-US" sz="2000" b="1" u="sng" dirty="0">
              <a:ea typeface="等线 Light" panose="02010600030101010101" pitchFamily="2" charset="-122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0" y="6121400"/>
          <a:ext cx="9144000" cy="692150"/>
        </p:xfrm>
        <a:graphic>
          <a:graphicData uri="http://schemas.openxmlformats.org/drawingml/2006/table">
            <a:tbl>
              <a:tblPr/>
              <a:tblGrid>
                <a:gridCol w="1552755"/>
                <a:gridCol w="759124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能充填满，无短射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制品填充平衡，无缺胶，无滞留，无跑道效应，流动方向一致，填充速度均匀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229" name="文本框 4"/>
          <p:cNvSpPr txBox="1"/>
          <p:nvPr>
            <p:custDataLst>
              <p:tags r:id="rId1"/>
            </p:custDataLst>
          </p:nvPr>
        </p:nvSpPr>
        <p:spPr>
          <a:xfrm>
            <a:off x="6932613" y="5373688"/>
            <a:ext cx="1503362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200" u="none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Shitf+F5 </a:t>
            </a:r>
            <a:r>
              <a:rPr lang="zh-CN" altLang="en-US" sz="1200" u="none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播放</a:t>
            </a:r>
            <a:endParaRPr lang="zh-CN" altLang="zh-CN" sz="1200" u="none" dirty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" name="图片 1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885"/>
            <a:ext cx="9144000" cy="49180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44205" y="116840"/>
            <a:ext cx="642620" cy="40005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压力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0" y="6121400"/>
          <a:ext cx="9144000" cy="692150"/>
        </p:xfrm>
        <a:graphic>
          <a:graphicData uri="http://schemas.openxmlformats.org/drawingml/2006/table">
            <a:tbl>
              <a:tblPr/>
              <a:tblGrid>
                <a:gridCol w="1552755"/>
                <a:gridCol w="759124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压力都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OK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保压切换应该在注射完成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95%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～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99%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之间，最大压力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注塑机极限压力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*80%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" y="127635"/>
            <a:ext cx="7745095" cy="5894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5" y="188913"/>
            <a:ext cx="2674938" cy="400050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V/P</a:t>
            </a: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转换及其压力分布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0" y="6121400"/>
          <a:ext cx="9144000" cy="692150"/>
        </p:xfrm>
        <a:graphic>
          <a:graphicData uri="http://schemas.openxmlformats.org/drawingml/2006/table">
            <a:tbl>
              <a:tblPr/>
              <a:tblGrid>
                <a:gridCol w="1552755"/>
                <a:gridCol w="759124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压力都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OK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保压切换应该在注射完成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95%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～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99%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之间，最大压力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注塑机极限压力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*80%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" y="584835"/>
            <a:ext cx="7009130" cy="5413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3663" y="147638"/>
            <a:ext cx="2692400" cy="401638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注射位置处压力</a:t>
            </a:r>
            <a:r>
              <a:rPr kumimoji="0" lang="en-US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XY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图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0" y="6121400"/>
          <a:ext cx="9144000" cy="692150"/>
        </p:xfrm>
        <a:graphic>
          <a:graphicData uri="http://schemas.openxmlformats.org/drawingml/2006/table">
            <a:tbl>
              <a:tblPr/>
              <a:tblGrid>
                <a:gridCol w="1552755"/>
                <a:gridCol w="759124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应避免压力分布出现巨大变化，压力要求：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PP≤70mpa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ABS≤90mpa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PC+ABS≤100mpa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30" y="147955"/>
            <a:ext cx="8282305" cy="5722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89" name="Group 33"/>
          <p:cNvGraphicFramePr>
            <a:graphicFrameLocks noGrp="1"/>
          </p:cNvGraphicFramePr>
          <p:nvPr/>
        </p:nvGraphicFramePr>
        <p:xfrm>
          <a:off x="0" y="5626100"/>
          <a:ext cx="9144000" cy="1187451"/>
        </p:xfrm>
        <a:graphic>
          <a:graphicData uri="http://schemas.openxmlformats.org/drawingml/2006/table">
            <a:tbl>
              <a:tblPr/>
              <a:tblGrid>
                <a:gridCol w="1610264"/>
                <a:gridCol w="1610264"/>
                <a:gridCol w="1610264"/>
                <a:gridCol w="823595"/>
                <a:gridCol w="1503045"/>
                <a:gridCol w="1986567"/>
              </a:tblGrid>
              <a:tr h="610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流动前沿温差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产品外观面温差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&lt;20℃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材料推荐成型范围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3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流前温度说明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流动前沿温度波动在可接受范围内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83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所有区域都应在材料成形温度范围内，外观区域温差要求在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℃以内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92" marB="4579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08850" y="131763"/>
            <a:ext cx="1816100" cy="41751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流动前沿温度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" y="29845"/>
            <a:ext cx="7249160" cy="5530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549" name="Group 21"/>
          <p:cNvGraphicFramePr>
            <a:graphicFrameLocks noGrp="1"/>
          </p:cNvGraphicFramePr>
          <p:nvPr/>
        </p:nvGraphicFramePr>
        <p:xfrm>
          <a:off x="0" y="5716588"/>
          <a:ext cx="9144000" cy="822723"/>
        </p:xfrm>
        <a:graphic>
          <a:graphicData uri="http://schemas.openxmlformats.org/drawingml/2006/table">
            <a:tbl>
              <a:tblPr/>
              <a:tblGrid>
                <a:gridCol w="1897811"/>
                <a:gridCol w="2674189"/>
                <a:gridCol w="1897811"/>
                <a:gridCol w="2674189"/>
              </a:tblGrid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CAE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最大锁模力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702T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注塑机最大锁模力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800T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锁模说明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注塑压力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OK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，请选择合适的注塑机台吨位。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最大压力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注塑机极限压力×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70%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CAE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最大锁模力＜实际注塑机最大锁模力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*80%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4025" y="200025"/>
            <a:ext cx="2339975" cy="32385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锁模力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：</a:t>
            </a:r>
            <a:r>
              <a:rPr kumimoji="0" lang="en-US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XY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图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16840"/>
            <a:ext cx="7950200" cy="5499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25" y="200025"/>
            <a:ext cx="1019175" cy="293688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熔接线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0" y="6121400"/>
          <a:ext cx="9144000" cy="692150"/>
        </p:xfrm>
        <a:graphic>
          <a:graphicData uri="http://schemas.openxmlformats.org/drawingml/2006/table">
            <a:tbl>
              <a:tblPr/>
              <a:tblGrid>
                <a:gridCol w="1552755"/>
                <a:gridCol w="759124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以上是方案的熔接线分布图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尽量加大融合处的融合角度（大于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135 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度）及减小融合温差（主要影响产品的强度），并使熔接线长度最小化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" y="108585"/>
            <a:ext cx="7672070" cy="5922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02538" y="200025"/>
            <a:ext cx="1522413" cy="365125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体积收缩率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0" y="6121400"/>
          <a:ext cx="9144000" cy="692150"/>
        </p:xfrm>
        <a:graphic>
          <a:graphicData uri="http://schemas.openxmlformats.org/drawingml/2006/table">
            <a:tbl>
              <a:tblPr/>
              <a:tblGrid>
                <a:gridCol w="1087120"/>
                <a:gridCol w="8056880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体积收缩分布均匀。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体积收缩应尽可能均匀</a:t>
                      </a:r>
                      <a:r>
                        <a:rPr lang="zh-CN" altLang="en-US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，以</a:t>
                      </a:r>
                      <a:r>
                        <a:rPr lang="zh-CN" altLang="zh-CN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半结晶材料</a:t>
                      </a:r>
                      <a:r>
                        <a:rPr lang="zh-CN" altLang="en-US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为例</a:t>
                      </a:r>
                      <a:r>
                        <a:rPr lang="zh-CN" altLang="zh-CN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，与邻近区域体积收缩差值应小于</a:t>
                      </a:r>
                      <a:r>
                        <a:rPr lang="en-US" altLang="zh-CN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" y="128270"/>
            <a:ext cx="7536180" cy="5789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6863" y="200025"/>
            <a:ext cx="1223963" cy="365125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缩痕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估算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0" y="6121400"/>
          <a:ext cx="9144000" cy="692150"/>
        </p:xfrm>
        <a:graphic>
          <a:graphicData uri="http://schemas.openxmlformats.org/drawingml/2006/table">
            <a:tbl>
              <a:tblPr/>
              <a:tblGrid>
                <a:gridCol w="1552755"/>
                <a:gridCol w="7591245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结果说明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缩痕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深度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&gt;0.03mm</a:t>
                      </a:r>
                      <a:r>
                        <a:rPr kumimoji="0" lang="zh-CN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，本产品缩痕可见。</a:t>
                      </a:r>
                      <a:endParaRPr kumimoji="0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分析要求 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油漆件、电镀件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&lt;0.03mm</a:t>
                      </a:r>
                      <a:r>
                        <a:rPr lang="zh-CN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，高光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&lt;0.01mm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655" marB="456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333375"/>
            <a:ext cx="7226300" cy="55130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37275" y="200025"/>
            <a:ext cx="3006725" cy="41751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变形，所有因数，总变形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26626" name="文本框 11"/>
          <p:cNvSpPr txBox="1"/>
          <p:nvPr/>
        </p:nvSpPr>
        <p:spPr>
          <a:xfrm>
            <a:off x="3132138" y="5445125"/>
            <a:ext cx="20113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方案的总体变形量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0" y="609600"/>
            <a:ext cx="72898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37275" y="200025"/>
            <a:ext cx="3006725" cy="41751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变形，所有因素</a:t>
            </a:r>
            <a:r>
              <a:rPr kumimoji="0" lang="zh-CN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：</a:t>
            </a:r>
            <a:r>
              <a:rPr kumimoji="0" lang="en-US" altLang="zh-CN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</a:t>
            </a:r>
            <a:r>
              <a:rPr kumimoji="0" lang="zh-CN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方向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013325"/>
            <a:ext cx="1097280" cy="1562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549275"/>
            <a:ext cx="7122795" cy="60477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37275" y="200025"/>
            <a:ext cx="3006725" cy="41751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变形，所有因素</a:t>
            </a:r>
            <a:r>
              <a:rPr kumimoji="0" lang="zh-CN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：</a:t>
            </a:r>
            <a:r>
              <a:rPr kumimoji="0" lang="en-US" altLang="zh-CN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Y</a:t>
            </a:r>
            <a:r>
              <a:rPr kumimoji="0" lang="zh-CN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方向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13325"/>
            <a:ext cx="1097280" cy="1562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549275"/>
            <a:ext cx="7378700" cy="61899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37275" y="200025"/>
            <a:ext cx="3006725" cy="41751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变形，所有因素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：</a:t>
            </a:r>
            <a:r>
              <a:rPr kumimoji="0" lang="en-US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Z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方向</a:t>
            </a:r>
            <a:endParaRPr kumimoji="0" lang="zh-CN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1960" y="4941570"/>
            <a:ext cx="1082040" cy="16078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692785"/>
            <a:ext cx="7260590" cy="5699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89" name="Picture 48" descr="j04352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113" y="1087438"/>
            <a:ext cx="5557837" cy="503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文本框 1"/>
          <p:cNvSpPr txBox="1"/>
          <p:nvPr/>
        </p:nvSpPr>
        <p:spPr>
          <a:xfrm>
            <a:off x="3482975" y="4872038"/>
            <a:ext cx="3132138" cy="10144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6000" dirty="0">
                <a:latin typeface="Arial" panose="020B0604020202020204" pitchFamily="34" charset="0"/>
              </a:rPr>
              <a:t>Thanks</a:t>
            </a:r>
            <a:endParaRPr lang="zh-CN" altLang="en-US" sz="6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2RmM2YxOTFlZDVmNTk3OGQ3M2UwNTZiNGYwMmY3ZGU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FF0000"/>
          </a:solidFill>
          <a:headEnd type="none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1655</Words>
  <Application>WPS 演示</Application>
  <PresentationFormat>全屏显示(4:3)</PresentationFormat>
  <Paragraphs>226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Calibri Light</vt:lpstr>
      <vt:lpstr>Calibri</vt:lpstr>
      <vt:lpstr>Times New Roman</vt:lpstr>
      <vt:lpstr>微软雅黑</vt:lpstr>
      <vt:lpstr>等线 Light</vt:lpstr>
      <vt:lpstr>Arial Unicode MS</vt:lpstr>
      <vt:lpstr>自定义设计方案</vt:lpstr>
      <vt:lpstr>PowerPoint 演示文稿</vt:lpstr>
      <vt:lpstr>产品网格质量统计</vt:lpstr>
      <vt:lpstr>材料信息</vt:lpstr>
      <vt:lpstr>动态填充动画</vt:lpstr>
      <vt:lpstr>压力</vt:lpstr>
      <vt:lpstr>V/P转换及其压力分布</vt:lpstr>
      <vt:lpstr>注射位置处压力XY图</vt:lpstr>
      <vt:lpstr>流动前沿温度</vt:lpstr>
      <vt:lpstr>锁模力：XY图</vt:lpstr>
      <vt:lpstr>熔接线</vt:lpstr>
      <vt:lpstr>体积收缩率</vt:lpstr>
      <vt:lpstr>缩痕估算</vt:lpstr>
      <vt:lpstr>变形，所有因数，总变形</vt:lpstr>
      <vt:lpstr>变形，所有因素：X方向</vt:lpstr>
      <vt:lpstr>变形，所有因素：Y方向</vt:lpstr>
      <vt:lpstr>变形，所有因素：Z方向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Moldflow Analysis Report</dc:title>
  <dc:creator>sunny325</dc:creator>
  <cp:lastModifiedBy>Always、</cp:lastModifiedBy>
  <cp:revision>5421</cp:revision>
  <dcterms:created xsi:type="dcterms:W3CDTF">2007-01-03T21:19:00Z</dcterms:created>
  <dcterms:modified xsi:type="dcterms:W3CDTF">2026-09-02T09:38:48Z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DDoctype">
    <vt:lpwstr/>
  </property>
  <property fmtid="{D5CDD505-2E9C-101B-9397-08002B2CF9AE}" pid="3" name="ifb3f1d5afe843feb8b1029f02e3771f">
    <vt:lpwstr/>
  </property>
  <property fmtid="{D5CDD505-2E9C-101B-9397-08002B2CF9AE}" pid="4" name="TaxCatchAll">
    <vt:lpwstr/>
  </property>
  <property fmtid="{D5CDD505-2E9C-101B-9397-08002B2CF9AE}" pid="5" name="_dlc_DocId">
    <vt:lpwstr>GRIC03-38091783-38</vt:lpwstr>
  </property>
  <property fmtid="{D5CDD505-2E9C-101B-9397-08002B2CF9AE}" pid="6" name="_dlc_DocIdItemGuid">
    <vt:lpwstr>cd2be567-359e-4bd5-91da-754be35f4949</vt:lpwstr>
  </property>
  <property fmtid="{D5CDD505-2E9C-101B-9397-08002B2CF9AE}" pid="7" name="_dlc_DocIdUrl">
    <vt:lpwstr>http://intranet.geely.com/collaboration/C03/G-Mold-Development-Department/_layouts/15/DocIdRedir.aspx?ID=GRIC03-38091783-38, GRIC03-38091783-38</vt:lpwstr>
  </property>
  <property fmtid="{D5CDD505-2E9C-101B-9397-08002B2CF9AE}" pid="8" name="KSOProductBuildVer">
    <vt:lpwstr>2052-12.1.0.22089</vt:lpwstr>
  </property>
  <property fmtid="{D5CDD505-2E9C-101B-9397-08002B2CF9AE}" pid="9" name="ICV">
    <vt:lpwstr>F51F468066354162AE7257BB7828E60A_13</vt:lpwstr>
  </property>
</Properties>
</file>